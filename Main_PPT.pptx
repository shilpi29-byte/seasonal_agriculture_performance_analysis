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22"/>
  </p:notesMasterIdLst>
  <p:handoutMasterIdLst>
    <p:handoutMasterId r:id="rId23"/>
  </p:handoutMasterIdLst>
  <p:sldIdLst>
    <p:sldId id="338" r:id="rId5"/>
    <p:sldId id="327" r:id="rId6"/>
    <p:sldId id="315" r:id="rId7"/>
    <p:sldId id="329" r:id="rId8"/>
    <p:sldId id="302" r:id="rId9"/>
    <p:sldId id="339" r:id="rId10"/>
    <p:sldId id="340" r:id="rId11"/>
    <p:sldId id="344" r:id="rId12"/>
    <p:sldId id="345" r:id="rId13"/>
    <p:sldId id="346" r:id="rId14"/>
    <p:sldId id="347" r:id="rId15"/>
    <p:sldId id="348" r:id="rId16"/>
    <p:sldId id="349" r:id="rId17"/>
    <p:sldId id="341" r:id="rId18"/>
    <p:sldId id="342" r:id="rId19"/>
    <p:sldId id="343" r:id="rId20"/>
    <p:sldId id="304"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78" d="100"/>
          <a:sy n="78" d="100"/>
        </p:scale>
        <p:origin x="782"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9/8/2026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9/8/2026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9/8/2026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9/8/2026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9/8/2026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792480" y="3583914"/>
            <a:ext cx="8122920" cy="2245386"/>
          </a:xfrm>
        </p:spPr>
        <p:txBody>
          <a:bodyPr vert="horz" lIns="91440" tIns="45720" rIns="91440" bIns="45720" rtlCol="0" anchor="t">
            <a:normAutofit/>
          </a:bodyPr>
          <a:lstStyle/>
          <a:p>
            <a:r>
              <a:rPr lang="en-US" dirty="0">
                <a:solidFill>
                  <a:schemeClr val="tx1"/>
                </a:solidFill>
                <a:latin typeface="Arial" panose="020B0604020202020204" pitchFamily="34" charset="0"/>
                <a:cs typeface="Arial" panose="020B0604020202020204" pitchFamily="34" charset="0"/>
              </a:rPr>
              <a:t>Student Name </a:t>
            </a:r>
            <a:r>
              <a:rPr lang="en-US" b="0" dirty="0">
                <a:solidFill>
                  <a:schemeClr val="tx1"/>
                </a:solidFill>
                <a:latin typeface="Arial" panose="020B0604020202020204" pitchFamily="34" charset="0"/>
                <a:cs typeface="Arial" panose="020B0604020202020204" pitchFamily="34" charset="0"/>
              </a:rPr>
              <a:t>- Shilpi Bhakat</a:t>
            </a:r>
          </a:p>
          <a:p>
            <a:r>
              <a:rPr lang="en-US" dirty="0">
                <a:solidFill>
                  <a:schemeClr val="tx1"/>
                </a:solidFill>
                <a:latin typeface="Arial" panose="020B0604020202020204" pitchFamily="34" charset="0"/>
                <a:cs typeface="Arial" panose="020B0604020202020204" pitchFamily="34" charset="0"/>
              </a:rPr>
              <a:t>University Name </a:t>
            </a:r>
            <a:r>
              <a:rPr lang="en-US" b="0" dirty="0">
                <a:solidFill>
                  <a:schemeClr val="tx1"/>
                </a:solidFill>
                <a:latin typeface="Arial" panose="020B0604020202020204" pitchFamily="34" charset="0"/>
                <a:cs typeface="Arial" panose="020B0604020202020204" pitchFamily="34" charset="0"/>
              </a:rPr>
              <a:t>- </a:t>
            </a:r>
            <a:r>
              <a:rPr lang="en-US" b="0" dirty="0" err="1">
                <a:solidFill>
                  <a:schemeClr val="tx1"/>
                </a:solidFill>
                <a:latin typeface="Arial" panose="020B0604020202020204" pitchFamily="34" charset="0"/>
                <a:cs typeface="Arial" panose="020B0604020202020204" pitchFamily="34" charset="0"/>
              </a:rPr>
              <a:t>Brainware</a:t>
            </a:r>
            <a:r>
              <a:rPr lang="en-US" b="0" dirty="0">
                <a:solidFill>
                  <a:schemeClr val="tx1"/>
                </a:solidFill>
                <a:latin typeface="Arial" panose="020B0604020202020204" pitchFamily="34" charset="0"/>
                <a:cs typeface="Arial" panose="020B0604020202020204" pitchFamily="34" charset="0"/>
              </a:rPr>
              <a:t> University</a:t>
            </a:r>
          </a:p>
          <a:p>
            <a:r>
              <a:rPr lang="en-US" dirty="0">
                <a:solidFill>
                  <a:schemeClr val="tx1"/>
                </a:solidFill>
                <a:latin typeface="Arial" panose="020B0604020202020204" pitchFamily="34" charset="0"/>
                <a:cs typeface="Arial" panose="020B0604020202020204" pitchFamily="34" charset="0"/>
              </a:rPr>
              <a:t>AICTE STU ID </a:t>
            </a:r>
            <a:r>
              <a:rPr lang="en-US" b="0" dirty="0">
                <a:solidFill>
                  <a:schemeClr val="tx1"/>
                </a:solidFill>
                <a:latin typeface="Arial" panose="020B0604020202020204" pitchFamily="34" charset="0"/>
                <a:cs typeface="Arial" panose="020B0604020202020204" pitchFamily="34" charset="0"/>
              </a:rPr>
              <a:t>- STU6a68bbd4a8fcc1785248724</a:t>
            </a:r>
          </a:p>
          <a:p>
            <a:endParaRPr lang="en-US" b="0" dirty="0">
              <a:solidFill>
                <a:schemeClr val="tx1"/>
              </a:solidFill>
              <a:latin typeface="Arial" panose="020B0604020202020204" pitchFamily="34" charset="0"/>
              <a:cs typeface="Arial" panose="020B0604020202020204" pitchFamily="34" charset="0"/>
            </a:endParaRPr>
          </a:p>
          <a:p>
            <a:endParaRPr lang="en-IN" b="0" dirty="0">
              <a:solidFill>
                <a:schemeClr val="tx1"/>
              </a:solidFill>
              <a:latin typeface="Arial" panose="020B0604020202020204" pitchFamily="34" charset="0"/>
              <a:cs typeface="Arial" panose="020B0604020202020204" pitchFamily="34" charset="0"/>
            </a:endParaRPr>
          </a:p>
          <a:p>
            <a:pPr algn="r"/>
            <a:endParaRPr lang="en-IN" b="0" dirty="0">
              <a:solidFill>
                <a:schemeClr val="tx1"/>
              </a:solidFill>
              <a:latin typeface="Arial" panose="020B0604020202020204" pitchFamily="34" charset="0"/>
              <a:cs typeface="Arial" panose="020B0604020202020204" pitchFamily="34" charset="0"/>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792480" y="2530638"/>
            <a:ext cx="10576560" cy="743448"/>
          </a:xfrm>
        </p:spPr>
        <p:txBody>
          <a:bodyPr>
            <a:noAutofit/>
          </a:bodyPr>
          <a:lstStyle/>
          <a:p>
            <a:r>
              <a:rPr lang="en-GB" b="1" dirty="0">
                <a:latin typeface="Arial" panose="020B0604020202020204" pitchFamily="34" charset="0"/>
                <a:cs typeface="Arial" panose="020B0604020202020204" pitchFamily="34" charset="0"/>
              </a:rPr>
              <a:t>Project Title -  </a:t>
            </a:r>
            <a:r>
              <a:rPr lang="en-IN" b="1" dirty="0">
                <a:latin typeface="Arial" panose="020B0604020202020204" pitchFamily="34" charset="0"/>
                <a:cs typeface="Arial" panose="020B0604020202020204" pitchFamily="34" charset="0"/>
              </a:rPr>
              <a:t>Seasonal Agriculture Performance Analysis</a:t>
            </a: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957406" y="4576469"/>
            <a:ext cx="3176362" cy="400110"/>
          </a:xfrm>
          <a:prstGeom prst="rect">
            <a:avLst/>
          </a:prstGeom>
          <a:noFill/>
        </p:spPr>
        <p:txBody>
          <a:bodyPr wrap="square" rtlCol="0">
            <a:spAutoFit/>
          </a:bodyPr>
          <a:lstStyle/>
          <a:p>
            <a:endParaRPr lang="en-US" sz="20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4" presetClass="entr" presetSubtype="10" fill="hold" grpId="0" nodeType="clickEffect">
                                  <p:stCondLst>
                                    <p:cond delay="0"/>
                                  </p:stCondLst>
                                  <p:childTnLst>
                                    <p:set>
                                      <p:cBhvr>
                                        <p:cTn id="41" dur="1" fill="hold">
                                          <p:stCondLst>
                                            <p:cond delay="0"/>
                                          </p:stCondLst>
                                        </p:cTn>
                                        <p:tgtEl>
                                          <p:spTgt spid="2">
                                            <p:txEl>
                                              <p:pRg st="2" end="2"/>
                                            </p:txEl>
                                          </p:spTgt>
                                        </p:tgtEl>
                                        <p:attrNameLst>
                                          <p:attrName>style.visibility</p:attrName>
                                        </p:attrNameLst>
                                      </p:cBhvr>
                                      <p:to>
                                        <p:strVal val="visible"/>
                                      </p:to>
                                    </p:set>
                                    <p:animEffect transition="in" filter="randombar(horizontal)">
                                      <p:cBhvr>
                                        <p:cTn id="42"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a:bodyPr>
          <a:lstStyle/>
          <a:p>
            <a:r>
              <a:rPr lang="en-US" sz="3200" dirty="0">
                <a:latin typeface="Arial" panose="020B0604020202020204" pitchFamily="34" charset="0"/>
                <a:cs typeface="Arial" panose="020B0604020202020204" pitchFamily="34" charset="0"/>
              </a:rPr>
              <a:t>Problem  Statement</a:t>
            </a:r>
            <a:endParaRPr lang="en-IN" sz="3200"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8526780" y="280129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
        <p:nvSpPr>
          <p:cNvPr id="8" name="TextBox 7">
            <a:extLst>
              <a:ext uri="{FF2B5EF4-FFF2-40B4-BE49-F238E27FC236}">
                <a16:creationId xmlns:a16="http://schemas.microsoft.com/office/drawing/2014/main" id="{FB4096E4-6E61-12FF-ED29-1CAF653EF206}"/>
              </a:ext>
            </a:extLst>
          </p:cNvPr>
          <p:cNvSpPr txBox="1"/>
          <p:nvPr/>
        </p:nvSpPr>
        <p:spPr>
          <a:xfrm>
            <a:off x="830802" y="1340528"/>
            <a:ext cx="7695978" cy="3416320"/>
          </a:xfrm>
          <a:prstGeom prst="rect">
            <a:avLst/>
          </a:prstGeom>
          <a:noFill/>
        </p:spPr>
        <p:txBody>
          <a:bodyPr wrap="square" rtlCol="0">
            <a:spAutoFit/>
          </a:bodyPr>
          <a:lstStyle/>
          <a:p>
            <a:pPr algn="just"/>
            <a:r>
              <a:rPr lang="en-IN" dirty="0">
                <a:latin typeface="Arial" panose="020B0604020202020204" pitchFamily="34" charset="0"/>
                <a:cs typeface="Arial" panose="020B0604020202020204" pitchFamily="34" charset="0"/>
              </a:rPr>
              <a:t>Agricultural activities are influenced by seasonal variations in environmental conditions, farming practices, resource availability and market conditions. As a result, agricultural performance may differ from one season to another. </a:t>
            </a:r>
          </a:p>
          <a:p>
            <a:pPr algn="just"/>
            <a:endParaRPr lang="en-IN" dirty="0">
              <a:latin typeface="Arial" panose="020B0604020202020204" pitchFamily="34" charset="0"/>
              <a:cs typeface="Arial" panose="020B0604020202020204" pitchFamily="34" charset="0"/>
            </a:endParaRPr>
          </a:p>
          <a:p>
            <a:pPr algn="just"/>
            <a:r>
              <a:rPr lang="en-IN" dirty="0">
                <a:latin typeface="Arial" panose="020B0604020202020204" pitchFamily="34" charset="0"/>
                <a:cs typeface="Arial" panose="020B0604020202020204" pitchFamily="34" charset="0"/>
              </a:rPr>
              <a:t>However, raw agricultural data does not clearly explain how agricultural performance changes across seasons or what patterns can be observed in different seasonal conditions. </a:t>
            </a:r>
          </a:p>
          <a:p>
            <a:pPr algn="just"/>
            <a:endParaRPr lang="en-IN" dirty="0">
              <a:latin typeface="Arial" panose="020B0604020202020204" pitchFamily="34" charset="0"/>
              <a:cs typeface="Arial" panose="020B0604020202020204" pitchFamily="34" charset="0"/>
            </a:endParaRPr>
          </a:p>
          <a:p>
            <a:pPr algn="just"/>
            <a:r>
              <a:rPr lang="en-IN" dirty="0">
                <a:latin typeface="Arial" panose="020B0604020202020204" pitchFamily="34" charset="0"/>
                <a:cs typeface="Arial" panose="020B0604020202020204" pitchFamily="34" charset="0"/>
              </a:rPr>
              <a:t>The problem is to analyse the given agricultural dataset and investigate seasonal differences in agricultural performance by identifying meaningful patterns, trends, relationships and variations within the available data. </a:t>
            </a:r>
          </a:p>
        </p:txBody>
      </p:sp>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75957" y="500413"/>
            <a:ext cx="4338321" cy="698467"/>
          </a:xfrm>
        </p:spPr>
        <p:txBody>
          <a:bodyPr>
            <a:normAutofit fontScale="90000"/>
          </a:bodyPr>
          <a:lstStyle/>
          <a:p>
            <a:r>
              <a:rPr lang="en-GB" sz="3600" dirty="0">
                <a:latin typeface="Arial" panose="020B0604020202020204" pitchFamily="34" charset="0"/>
                <a:cs typeface="Arial" panose="020B0604020202020204" pitchFamily="34" charset="0"/>
              </a:rPr>
              <a:t>Project Description</a:t>
            </a:r>
            <a:br>
              <a:rPr lang="en-GB" sz="3600" dirty="0">
                <a:latin typeface="Arial" panose="020B0604020202020204" pitchFamily="34" charset="0"/>
                <a:cs typeface="Arial" panose="020B0604020202020204" pitchFamily="34" charset="0"/>
              </a:rPr>
            </a:br>
            <a:br>
              <a:rPr lang="en-GB" sz="3600" dirty="0">
                <a:latin typeface="Arial" panose="020B0604020202020204" pitchFamily="34" charset="0"/>
                <a:cs typeface="Arial" panose="020B0604020202020204" pitchFamily="34" charset="0"/>
              </a:rPr>
            </a:br>
            <a:br>
              <a:rPr lang="en-GB" sz="2000" b="0" dirty="0">
                <a:latin typeface="Arial" panose="020B0604020202020204" pitchFamily="34" charset="0"/>
                <a:cs typeface="Arial" panose="020B0604020202020204" pitchFamily="34" charset="0"/>
              </a:rPr>
            </a:br>
            <a:endParaRPr lang="en-IN" sz="2000" b="0"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4" name="TextBox 3">
            <a:extLst>
              <a:ext uri="{FF2B5EF4-FFF2-40B4-BE49-F238E27FC236}">
                <a16:creationId xmlns:a16="http://schemas.microsoft.com/office/drawing/2014/main" id="{A3BBD3A5-683A-CE1A-1BB8-F7C6298DFEE1}"/>
              </a:ext>
            </a:extLst>
          </p:cNvPr>
          <p:cNvSpPr txBox="1"/>
          <p:nvPr/>
        </p:nvSpPr>
        <p:spPr>
          <a:xfrm>
            <a:off x="675957" y="1371601"/>
            <a:ext cx="8092123" cy="3780522"/>
          </a:xfrm>
          <a:prstGeom prst="rect">
            <a:avLst/>
          </a:prstGeom>
          <a:noFill/>
        </p:spPr>
        <p:txBody>
          <a:bodyPr wrap="square">
            <a:spAutoFit/>
          </a:bodyPr>
          <a:lstStyle/>
          <a:p>
            <a:pPr algn="just">
              <a:lnSpc>
                <a:spcPct val="150000"/>
              </a:lnSpc>
            </a:pPr>
            <a:r>
              <a:rPr lang="en-IN" dirty="0">
                <a:latin typeface="Arial" panose="020B0604020202020204" pitchFamily="34" charset="0"/>
                <a:cs typeface="Arial" panose="020B0604020202020204" pitchFamily="34" charset="0"/>
              </a:rPr>
              <a:t>Seasonal Agriculture Performance Analysis is a Data Analytics project that examines agricultural performance across different seasons, regions, farming conditions, resource usage, and economic factors. The project focuses on cleaning and analysing the dataset to identify important seasonal patterns, trends, relationships, and variations. Exploratory data analysis, statistical techniques, and visualizations are used to understand differences in crop performance, resource utilization, disease risk, and profitability. The findings provide data-driven insights and recommendations that can support better seasonal agricultural planning and decision-making.</a:t>
            </a: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620008" y="1492329"/>
            <a:ext cx="7904481" cy="3990023"/>
          </a:xfrm>
        </p:spPr>
        <p:txBody>
          <a:bodyPr>
            <a:normAutofit fontScale="92500" lnSpcReduction="10000"/>
          </a:bodyPr>
          <a:lstStyle/>
          <a:p>
            <a:pPr lvl="0" algn="just">
              <a:lnSpc>
                <a:spcPct val="160000"/>
              </a:lnSpc>
            </a:pPr>
            <a:r>
              <a:rPr lang="en-IN" sz="1900" b="1" dirty="0">
                <a:solidFill>
                  <a:schemeClr val="tx1"/>
                </a:solidFill>
                <a:latin typeface="Arial" panose="020B0604020202020204" pitchFamily="34" charset="0"/>
                <a:cs typeface="Arial" panose="020B0604020202020204" pitchFamily="34" charset="0"/>
              </a:rPr>
              <a:t>Farmers</a:t>
            </a:r>
            <a:r>
              <a:rPr lang="en-IN" sz="1900" dirty="0">
                <a:solidFill>
                  <a:schemeClr val="tx1"/>
                </a:solidFill>
                <a:latin typeface="Arial" panose="020B0604020202020204" pitchFamily="34" charset="0"/>
                <a:cs typeface="Arial" panose="020B0604020202020204" pitchFamily="34" charset="0"/>
              </a:rPr>
              <a:t> – To understand seasonal trends and improve farming decisions. </a:t>
            </a:r>
          </a:p>
          <a:p>
            <a:pPr lvl="0" algn="just">
              <a:lnSpc>
                <a:spcPct val="160000"/>
              </a:lnSpc>
            </a:pPr>
            <a:r>
              <a:rPr lang="en-IN" sz="1900" b="1" dirty="0">
                <a:solidFill>
                  <a:schemeClr val="tx1"/>
                </a:solidFill>
                <a:latin typeface="Arial" panose="020B0604020202020204" pitchFamily="34" charset="0"/>
                <a:cs typeface="Arial" panose="020B0604020202020204" pitchFamily="34" charset="0"/>
              </a:rPr>
              <a:t>Agricultural Planners</a:t>
            </a:r>
            <a:r>
              <a:rPr lang="en-IN" sz="1900" dirty="0">
                <a:solidFill>
                  <a:schemeClr val="tx1"/>
                </a:solidFill>
                <a:latin typeface="Arial" panose="020B0604020202020204" pitchFamily="34" charset="0"/>
                <a:cs typeface="Arial" panose="020B0604020202020204" pitchFamily="34" charset="0"/>
              </a:rPr>
              <a:t> – To support seasonal agricultural planning. </a:t>
            </a:r>
          </a:p>
          <a:p>
            <a:pPr lvl="0" algn="just">
              <a:lnSpc>
                <a:spcPct val="160000"/>
              </a:lnSpc>
            </a:pPr>
            <a:r>
              <a:rPr lang="en-IN" sz="1900" b="1" dirty="0">
                <a:solidFill>
                  <a:schemeClr val="tx1"/>
                </a:solidFill>
                <a:latin typeface="Arial" panose="020B0604020202020204" pitchFamily="34" charset="0"/>
                <a:cs typeface="Arial" panose="020B0604020202020204" pitchFamily="34" charset="0"/>
              </a:rPr>
              <a:t>Government &amp; Agriculture Departments</a:t>
            </a:r>
            <a:r>
              <a:rPr lang="en-IN" sz="1900" dirty="0">
                <a:solidFill>
                  <a:schemeClr val="tx1"/>
                </a:solidFill>
                <a:latin typeface="Arial" panose="020B0604020202020204" pitchFamily="34" charset="0"/>
                <a:cs typeface="Arial" panose="020B0604020202020204" pitchFamily="34" charset="0"/>
              </a:rPr>
              <a:t> – To identify regional and seasonal patterns. </a:t>
            </a:r>
          </a:p>
          <a:p>
            <a:pPr lvl="0" algn="just">
              <a:lnSpc>
                <a:spcPct val="160000"/>
              </a:lnSpc>
            </a:pPr>
            <a:r>
              <a:rPr lang="en-IN" sz="1900" b="1" dirty="0">
                <a:solidFill>
                  <a:schemeClr val="tx1"/>
                </a:solidFill>
                <a:latin typeface="Arial" panose="020B0604020202020204" pitchFamily="34" charset="0"/>
                <a:cs typeface="Arial" panose="020B0604020202020204" pitchFamily="34" charset="0"/>
              </a:rPr>
              <a:t>Agricultural Researchers</a:t>
            </a:r>
            <a:r>
              <a:rPr lang="en-IN" sz="1900" dirty="0">
                <a:solidFill>
                  <a:schemeClr val="tx1"/>
                </a:solidFill>
                <a:latin typeface="Arial" panose="020B0604020202020204" pitchFamily="34" charset="0"/>
                <a:cs typeface="Arial" panose="020B0604020202020204" pitchFamily="34" charset="0"/>
              </a:rPr>
              <a:t> – To study relationships between environmental conditions and crop performance. </a:t>
            </a:r>
          </a:p>
          <a:p>
            <a:pPr lvl="0" algn="just">
              <a:lnSpc>
                <a:spcPct val="160000"/>
              </a:lnSpc>
            </a:pPr>
            <a:r>
              <a:rPr lang="en-IN" sz="1900" b="1" dirty="0">
                <a:solidFill>
                  <a:schemeClr val="tx1"/>
                </a:solidFill>
                <a:latin typeface="Arial" panose="020B0604020202020204" pitchFamily="34" charset="0"/>
                <a:cs typeface="Arial" panose="020B0604020202020204" pitchFamily="34" charset="0"/>
              </a:rPr>
              <a:t>Agribusinesses</a:t>
            </a:r>
            <a:r>
              <a:rPr lang="en-IN" sz="1900" dirty="0">
                <a:solidFill>
                  <a:schemeClr val="tx1"/>
                </a:solidFill>
                <a:latin typeface="Arial" panose="020B0604020202020204" pitchFamily="34" charset="0"/>
                <a:cs typeface="Arial" panose="020B0604020202020204" pitchFamily="34" charset="0"/>
              </a:rPr>
              <a:t> – To understand production and economic trends. </a:t>
            </a:r>
          </a:p>
          <a:p>
            <a:pPr marL="0" indent="0" algn="just">
              <a:lnSpc>
                <a:spcPct val="150000"/>
              </a:lnSpc>
              <a:buNone/>
            </a:pP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689688"/>
            <a:ext cx="5323592" cy="802641"/>
          </a:xfrm>
        </p:spPr>
        <p:txBody>
          <a:bodyPr>
            <a:normAutofit/>
          </a:bodyPr>
          <a:lstStyle/>
          <a:p>
            <a:r>
              <a:rPr lang="en-US" sz="3200" dirty="0">
                <a:latin typeface="Arial" panose="020B0604020202020204" pitchFamily="34" charset="0"/>
                <a:cs typeface="Arial" panose="020B0604020202020204" pitchFamily="34" charset="0"/>
              </a:rPr>
              <a:t>Who are the end users?</a:t>
            </a:r>
            <a:endParaRPr lang="en-IN" sz="2000" dirty="0">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660399" y="1167013"/>
            <a:ext cx="9027702" cy="5243448"/>
          </a:xfrm>
        </p:spPr>
        <p:txBody>
          <a:bodyPr/>
          <a:lstStyle/>
          <a:p>
            <a:pPr lvl="0"/>
            <a:r>
              <a:rPr lang="en-IN" sz="1800" b="1" dirty="0">
                <a:solidFill>
                  <a:schemeClr val="tx1"/>
                </a:solidFill>
                <a:latin typeface="Arial" panose="020B0604020202020204" pitchFamily="34" charset="0"/>
                <a:cs typeface="Arial" panose="020B0604020202020204" pitchFamily="34" charset="0"/>
              </a:rPr>
              <a:t>Python</a:t>
            </a:r>
            <a:r>
              <a:rPr lang="en-IN" sz="1800" dirty="0">
                <a:solidFill>
                  <a:schemeClr val="tx1"/>
                </a:solidFill>
                <a:latin typeface="Arial" panose="020B0604020202020204" pitchFamily="34" charset="0"/>
                <a:cs typeface="Arial" panose="020B0604020202020204" pitchFamily="34" charset="0"/>
              </a:rPr>
              <a:t> </a:t>
            </a:r>
          </a:p>
          <a:p>
            <a:pPr lvl="0"/>
            <a:r>
              <a:rPr lang="en-IN" sz="1800" b="1" dirty="0">
                <a:solidFill>
                  <a:schemeClr val="tx1"/>
                </a:solidFill>
                <a:latin typeface="Arial" panose="020B0604020202020204" pitchFamily="34" charset="0"/>
                <a:cs typeface="Arial" panose="020B0604020202020204" pitchFamily="34" charset="0"/>
              </a:rPr>
              <a:t>Google Colab</a:t>
            </a:r>
            <a:r>
              <a:rPr lang="en-IN" sz="1800" dirty="0">
                <a:solidFill>
                  <a:schemeClr val="tx1"/>
                </a:solidFill>
                <a:latin typeface="Arial" panose="020B0604020202020204" pitchFamily="34" charset="0"/>
                <a:cs typeface="Arial" panose="020B0604020202020204" pitchFamily="34" charset="0"/>
              </a:rPr>
              <a:t> </a:t>
            </a:r>
          </a:p>
          <a:p>
            <a:pPr lvl="0"/>
            <a:r>
              <a:rPr lang="en-IN" sz="1800" b="1" dirty="0">
                <a:solidFill>
                  <a:schemeClr val="tx1"/>
                </a:solidFill>
                <a:latin typeface="Arial" panose="020B0604020202020204" pitchFamily="34" charset="0"/>
                <a:cs typeface="Arial" panose="020B0604020202020204" pitchFamily="34" charset="0"/>
              </a:rPr>
              <a:t>Pandas &amp; NumPy</a:t>
            </a:r>
            <a:r>
              <a:rPr lang="en-IN" sz="1800" dirty="0">
                <a:solidFill>
                  <a:schemeClr val="tx1"/>
                </a:solidFill>
                <a:latin typeface="Arial" panose="020B0604020202020204" pitchFamily="34" charset="0"/>
                <a:cs typeface="Arial" panose="020B0604020202020204" pitchFamily="34" charset="0"/>
              </a:rPr>
              <a:t> – Data Processing </a:t>
            </a:r>
          </a:p>
          <a:p>
            <a:pPr lvl="0"/>
            <a:r>
              <a:rPr lang="en-IN" sz="1800" b="1" dirty="0">
                <a:solidFill>
                  <a:schemeClr val="tx1"/>
                </a:solidFill>
                <a:latin typeface="Arial" panose="020B0604020202020204" pitchFamily="34" charset="0"/>
                <a:cs typeface="Arial" panose="020B0604020202020204" pitchFamily="34" charset="0"/>
              </a:rPr>
              <a:t>Matplotlib &amp; Seaborn</a:t>
            </a:r>
            <a:r>
              <a:rPr lang="en-IN" sz="1800" dirty="0">
                <a:solidFill>
                  <a:schemeClr val="tx1"/>
                </a:solidFill>
                <a:latin typeface="Arial" panose="020B0604020202020204" pitchFamily="34" charset="0"/>
                <a:cs typeface="Arial" panose="020B0604020202020204" pitchFamily="34" charset="0"/>
              </a:rPr>
              <a:t> – Data Visualization</a:t>
            </a:r>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sz="3200" dirty="0">
                <a:latin typeface="Arial" panose="020B0604020202020204" pitchFamily="34" charset="0"/>
                <a:cs typeface="Arial" panose="020B0604020202020204" pitchFamily="34" charset="0"/>
              </a:rPr>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574357" y="278695"/>
            <a:ext cx="1925003" cy="830997"/>
          </a:xfrm>
        </p:spPr>
        <p:txBody>
          <a:bodyPr>
            <a:normAutofit/>
          </a:bodyPr>
          <a:lstStyle/>
          <a:p>
            <a:r>
              <a:rPr lang="en-GB" sz="3600" dirty="0">
                <a:latin typeface="Arial" panose="020B0604020202020204" pitchFamily="34" charset="0"/>
                <a:cs typeface="Arial" panose="020B0604020202020204" pitchFamily="34" charset="0"/>
              </a:rPr>
              <a:t>Results</a:t>
            </a:r>
            <a:r>
              <a:rPr lang="en-GB" dirty="0"/>
              <a:t>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910E6B38-0E34-47EF-646D-4911E4F90C5D}"/>
              </a:ext>
            </a:extLst>
          </p:cNvPr>
          <p:cNvPicPr>
            <a:picLocks noChangeAspect="1"/>
          </p:cNvPicPr>
          <p:nvPr/>
        </p:nvPicPr>
        <p:blipFill>
          <a:blip r:embed="rId3"/>
          <a:stretch>
            <a:fillRect/>
          </a:stretch>
        </p:blipFill>
        <p:spPr>
          <a:xfrm>
            <a:off x="675956" y="1360035"/>
            <a:ext cx="5275265" cy="3556517"/>
          </a:xfrm>
          <a:prstGeom prst="rect">
            <a:avLst/>
          </a:prstGeom>
        </p:spPr>
      </p:pic>
      <p:sp>
        <p:nvSpPr>
          <p:cNvPr id="9" name="TextBox 8">
            <a:extLst>
              <a:ext uri="{FF2B5EF4-FFF2-40B4-BE49-F238E27FC236}">
                <a16:creationId xmlns:a16="http://schemas.microsoft.com/office/drawing/2014/main" id="{EFF7A2F2-99D7-2075-F4D2-EF3F1E9FF3B2}"/>
              </a:ext>
            </a:extLst>
          </p:cNvPr>
          <p:cNvSpPr txBox="1"/>
          <p:nvPr/>
        </p:nvSpPr>
        <p:spPr>
          <a:xfrm>
            <a:off x="490220" y="5232570"/>
            <a:ext cx="5605780" cy="1021883"/>
          </a:xfrm>
          <a:prstGeom prst="rect">
            <a:avLst/>
          </a:prstGeom>
          <a:noFill/>
        </p:spPr>
        <p:txBody>
          <a:bodyPr wrap="square">
            <a:spAutoFit/>
          </a:bodyPr>
          <a:lstStyle/>
          <a:p>
            <a:pPr>
              <a:lnSpc>
                <a:spcPct val="150000"/>
              </a:lnSpc>
            </a:pPr>
            <a:r>
              <a:rPr lang="en-IN" sz="1400" b="1" dirty="0">
                <a:latin typeface="Arial" panose="020B0604020202020204" pitchFamily="34" charset="0"/>
                <a:cs typeface="Arial" panose="020B0604020202020204" pitchFamily="34" charset="0"/>
              </a:rPr>
              <a:t>Observation:</a:t>
            </a:r>
            <a:r>
              <a:rPr lang="en-IN" sz="1400" dirty="0">
                <a:latin typeface="Arial" panose="020B0604020202020204" pitchFamily="34" charset="0"/>
                <a:cs typeface="Arial" panose="020B0604020202020204" pitchFamily="34" charset="0"/>
              </a:rPr>
              <a:t> Missing values were found in Rainfall, Soil Moisture, and Yield columns, with missing percentages ranging from 0.8% to 1.2%.</a:t>
            </a:r>
          </a:p>
        </p:txBody>
      </p:sp>
      <p:pic>
        <p:nvPicPr>
          <p:cNvPr id="12" name="Picture 11">
            <a:extLst>
              <a:ext uri="{FF2B5EF4-FFF2-40B4-BE49-F238E27FC236}">
                <a16:creationId xmlns:a16="http://schemas.microsoft.com/office/drawing/2014/main" id="{BFE38E13-9F40-9EB5-E393-1533E0BC7940}"/>
              </a:ext>
            </a:extLst>
          </p:cNvPr>
          <p:cNvPicPr>
            <a:picLocks noChangeAspect="1"/>
          </p:cNvPicPr>
          <p:nvPr/>
        </p:nvPicPr>
        <p:blipFill>
          <a:blip r:embed="rId4"/>
          <a:stretch>
            <a:fillRect/>
          </a:stretch>
        </p:blipFill>
        <p:spPr>
          <a:xfrm>
            <a:off x="6453933" y="1275370"/>
            <a:ext cx="5209747" cy="3556517"/>
          </a:xfrm>
          <a:prstGeom prst="rect">
            <a:avLst/>
          </a:prstGeom>
        </p:spPr>
      </p:pic>
      <p:sp>
        <p:nvSpPr>
          <p:cNvPr id="14" name="TextBox 13">
            <a:extLst>
              <a:ext uri="{FF2B5EF4-FFF2-40B4-BE49-F238E27FC236}">
                <a16:creationId xmlns:a16="http://schemas.microsoft.com/office/drawing/2014/main" id="{E1487AE8-E7DC-0EE8-718F-603CAAF390C6}"/>
              </a:ext>
            </a:extLst>
          </p:cNvPr>
          <p:cNvSpPr txBox="1"/>
          <p:nvPr/>
        </p:nvSpPr>
        <p:spPr>
          <a:xfrm>
            <a:off x="6372860" y="5169110"/>
            <a:ext cx="5328920" cy="1345048"/>
          </a:xfrm>
          <a:prstGeom prst="rect">
            <a:avLst/>
          </a:prstGeom>
          <a:noFill/>
        </p:spPr>
        <p:txBody>
          <a:bodyPr wrap="square">
            <a:spAutoFit/>
          </a:bodyPr>
          <a:lstStyle/>
          <a:p>
            <a:pPr>
              <a:lnSpc>
                <a:spcPct val="150000"/>
              </a:lnSpc>
            </a:pPr>
            <a:r>
              <a:rPr lang="en-IN" sz="1400" b="1" dirty="0">
                <a:latin typeface="Arial" panose="020B0604020202020204" pitchFamily="34" charset="0"/>
                <a:cs typeface="Arial" panose="020B0604020202020204" pitchFamily="34" charset="0"/>
              </a:rPr>
              <a:t>Observation:</a:t>
            </a:r>
            <a:r>
              <a:rPr lang="en-IN" sz="1400" dirty="0">
                <a:latin typeface="Arial" panose="020B0604020202020204" pitchFamily="34" charset="0"/>
                <a:cs typeface="Arial" panose="020B0604020202020204" pitchFamily="34" charset="0"/>
              </a:rPr>
              <a:t> Missing values in numerical columns were replaced with their respective median values, resulting in 0 remaining missing values</a:t>
            </a:r>
          </a:p>
          <a:p>
            <a:pPr>
              <a:lnSpc>
                <a:spcPct val="150000"/>
              </a:lnSpc>
            </a:pPr>
            <a:r>
              <a:rPr lang="en-IN" sz="1400" dirty="0">
                <a:latin typeface="Arial" panose="020B0604020202020204" pitchFamily="34" charset="0"/>
                <a:cs typeface="Arial" panose="020B0604020202020204" pitchFamily="34" charset="0"/>
              </a:rPr>
              <a:t> in the dataset.</a:t>
            </a:r>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sz="3200" dirty="0">
                <a:latin typeface="Arial" panose="020B0604020202020204" pitchFamily="34" charset="0"/>
                <a:cs typeface="Arial" panose="020B0604020202020204" pitchFamily="34" charset="0"/>
              </a:rPr>
              <a:t>Results</a:t>
            </a:r>
            <a:r>
              <a:rPr lang="en-GB" dirty="0"/>
              <a:t>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58571E1B-3AFE-AF03-1507-8000A1BFEDFD}"/>
              </a:ext>
            </a:extLst>
          </p:cNvPr>
          <p:cNvPicPr>
            <a:picLocks noChangeAspect="1"/>
          </p:cNvPicPr>
          <p:nvPr/>
        </p:nvPicPr>
        <p:blipFill>
          <a:blip r:embed="rId3"/>
          <a:stretch>
            <a:fillRect/>
          </a:stretch>
        </p:blipFill>
        <p:spPr>
          <a:xfrm>
            <a:off x="767618" y="1275371"/>
            <a:ext cx="5328382" cy="3073109"/>
          </a:xfrm>
          <a:prstGeom prst="rect">
            <a:avLst/>
          </a:prstGeom>
        </p:spPr>
      </p:pic>
      <p:sp>
        <p:nvSpPr>
          <p:cNvPr id="14" name="TextBox 13">
            <a:extLst>
              <a:ext uri="{FF2B5EF4-FFF2-40B4-BE49-F238E27FC236}">
                <a16:creationId xmlns:a16="http://schemas.microsoft.com/office/drawing/2014/main" id="{E952DAAF-29D0-5FD8-080E-CE641D7B45EC}"/>
              </a:ext>
            </a:extLst>
          </p:cNvPr>
          <p:cNvSpPr txBox="1"/>
          <p:nvPr/>
        </p:nvSpPr>
        <p:spPr>
          <a:xfrm>
            <a:off x="675957" y="4659299"/>
            <a:ext cx="5900613" cy="1021883"/>
          </a:xfrm>
          <a:prstGeom prst="rect">
            <a:avLst/>
          </a:prstGeom>
          <a:noFill/>
        </p:spPr>
        <p:txBody>
          <a:bodyPr wrap="square">
            <a:spAutoFit/>
          </a:bodyPr>
          <a:lstStyle/>
          <a:p>
            <a:pPr>
              <a:lnSpc>
                <a:spcPct val="150000"/>
              </a:lnSpc>
            </a:pPr>
            <a:r>
              <a:rPr lang="en-IN" sz="1400" b="1" dirty="0">
                <a:latin typeface="Arial" panose="020B0604020202020204" pitchFamily="34" charset="0"/>
                <a:cs typeface="Arial" panose="020B0604020202020204" pitchFamily="34" charset="0"/>
              </a:rPr>
              <a:t>Observation:</a:t>
            </a:r>
            <a:r>
              <a:rPr lang="en-IN" sz="1400" dirty="0">
                <a:latin typeface="Arial" panose="020B0604020202020204" pitchFamily="34" charset="0"/>
                <a:cs typeface="Arial" panose="020B0604020202020204" pitchFamily="34" charset="0"/>
              </a:rPr>
              <a:t> Categorical columns were reviewed to identify their unique values and understand the different categories present in the dataset.</a:t>
            </a:r>
          </a:p>
        </p:txBody>
      </p:sp>
      <p:pic>
        <p:nvPicPr>
          <p:cNvPr id="16" name="Picture 15">
            <a:extLst>
              <a:ext uri="{FF2B5EF4-FFF2-40B4-BE49-F238E27FC236}">
                <a16:creationId xmlns:a16="http://schemas.microsoft.com/office/drawing/2014/main" id="{E41C9F02-16ED-BA77-9BD3-6E5EB319FE43}"/>
              </a:ext>
            </a:extLst>
          </p:cNvPr>
          <p:cNvPicPr>
            <a:picLocks noChangeAspect="1"/>
          </p:cNvPicPr>
          <p:nvPr/>
        </p:nvPicPr>
        <p:blipFill>
          <a:blip r:embed="rId4"/>
          <a:stretch>
            <a:fillRect/>
          </a:stretch>
        </p:blipFill>
        <p:spPr>
          <a:xfrm>
            <a:off x="6576570" y="1128677"/>
            <a:ext cx="5015990" cy="3219803"/>
          </a:xfrm>
          <a:prstGeom prst="rect">
            <a:avLst/>
          </a:prstGeom>
        </p:spPr>
      </p:pic>
      <p:sp>
        <p:nvSpPr>
          <p:cNvPr id="18" name="TextBox 17">
            <a:extLst>
              <a:ext uri="{FF2B5EF4-FFF2-40B4-BE49-F238E27FC236}">
                <a16:creationId xmlns:a16="http://schemas.microsoft.com/office/drawing/2014/main" id="{16F226EC-981C-5AB4-3483-8EE1C5C4A2E1}"/>
              </a:ext>
            </a:extLst>
          </p:cNvPr>
          <p:cNvSpPr txBox="1"/>
          <p:nvPr/>
        </p:nvSpPr>
        <p:spPr>
          <a:xfrm>
            <a:off x="6576570" y="4572170"/>
            <a:ext cx="5127750" cy="1021883"/>
          </a:xfrm>
          <a:prstGeom prst="rect">
            <a:avLst/>
          </a:prstGeom>
          <a:noFill/>
        </p:spPr>
        <p:txBody>
          <a:bodyPr wrap="square">
            <a:spAutoFit/>
          </a:bodyPr>
          <a:lstStyle/>
          <a:p>
            <a:pPr>
              <a:lnSpc>
                <a:spcPct val="150000"/>
              </a:lnSpc>
            </a:pPr>
            <a:r>
              <a:rPr lang="en-IN" sz="1400" b="1" dirty="0">
                <a:latin typeface="Arial" panose="020B0604020202020204" pitchFamily="34" charset="0"/>
                <a:cs typeface="Arial" panose="020B0604020202020204" pitchFamily="34" charset="0"/>
              </a:rPr>
              <a:t>Observation:</a:t>
            </a:r>
            <a:r>
              <a:rPr lang="en-IN" sz="1400" dirty="0">
                <a:latin typeface="Arial" panose="020B0604020202020204" pitchFamily="34" charset="0"/>
                <a:cs typeface="Arial" panose="020B0604020202020204" pitchFamily="34" charset="0"/>
              </a:rPr>
              <a:t> The visualization shows the distribution of agricultural records across the different seasons, helping compare their representation in the dataset.</a:t>
            </a:r>
          </a:p>
        </p:txBody>
      </p:sp>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sz="3600" dirty="0">
                <a:latin typeface="Arial" panose="020B0604020202020204" pitchFamily="34" charset="0"/>
                <a:cs typeface="Arial" panose="020B0604020202020204" pitchFamily="34" charset="0"/>
              </a:rPr>
              <a:t>Results</a:t>
            </a:r>
            <a:r>
              <a:rPr lang="en-GB" dirty="0"/>
              <a:t>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B46B614B-ABCD-2800-C6EC-E1B8407B6659}"/>
              </a:ext>
            </a:extLst>
          </p:cNvPr>
          <p:cNvPicPr>
            <a:picLocks noChangeAspect="1"/>
          </p:cNvPicPr>
          <p:nvPr/>
        </p:nvPicPr>
        <p:blipFill>
          <a:blip r:embed="rId3"/>
          <a:stretch>
            <a:fillRect/>
          </a:stretch>
        </p:blipFill>
        <p:spPr>
          <a:xfrm>
            <a:off x="522723" y="1188715"/>
            <a:ext cx="5248159" cy="4567225"/>
          </a:xfrm>
          <a:prstGeom prst="rect">
            <a:avLst/>
          </a:prstGeom>
        </p:spPr>
      </p:pic>
      <p:sp>
        <p:nvSpPr>
          <p:cNvPr id="13" name="TextBox 12">
            <a:extLst>
              <a:ext uri="{FF2B5EF4-FFF2-40B4-BE49-F238E27FC236}">
                <a16:creationId xmlns:a16="http://schemas.microsoft.com/office/drawing/2014/main" id="{46381D45-64F6-1879-39AC-3155ACB0C6DD}"/>
              </a:ext>
            </a:extLst>
          </p:cNvPr>
          <p:cNvSpPr txBox="1"/>
          <p:nvPr/>
        </p:nvSpPr>
        <p:spPr>
          <a:xfrm>
            <a:off x="675957" y="5506559"/>
            <a:ext cx="5094925" cy="1021883"/>
          </a:xfrm>
          <a:prstGeom prst="rect">
            <a:avLst/>
          </a:prstGeom>
          <a:noFill/>
        </p:spPr>
        <p:txBody>
          <a:bodyPr wrap="square">
            <a:spAutoFit/>
          </a:bodyPr>
          <a:lstStyle/>
          <a:p>
            <a:pPr>
              <a:lnSpc>
                <a:spcPct val="150000"/>
              </a:lnSpc>
            </a:pPr>
            <a:r>
              <a:rPr lang="en-IN" sz="1400" b="1" dirty="0">
                <a:latin typeface="Arial" panose="020B0604020202020204" pitchFamily="34" charset="0"/>
                <a:cs typeface="Arial" panose="020B0604020202020204" pitchFamily="34" charset="0"/>
              </a:rPr>
              <a:t>Observation:</a:t>
            </a:r>
            <a:r>
              <a:rPr lang="en-IN" sz="1400" dirty="0">
                <a:latin typeface="Arial" panose="020B0604020202020204" pitchFamily="34" charset="0"/>
                <a:cs typeface="Arial" panose="020B0604020202020204" pitchFamily="34" charset="0"/>
              </a:rPr>
              <a:t> The crop distribution varies across categories, with some crops having higher representation than others in the dataset.</a:t>
            </a:r>
          </a:p>
        </p:txBody>
      </p:sp>
      <p:pic>
        <p:nvPicPr>
          <p:cNvPr id="14" name="Picture 13">
            <a:extLst>
              <a:ext uri="{FF2B5EF4-FFF2-40B4-BE49-F238E27FC236}">
                <a16:creationId xmlns:a16="http://schemas.microsoft.com/office/drawing/2014/main" id="{28DBA805-A613-75E5-F4E3-10CDD3C4EDFE}"/>
              </a:ext>
            </a:extLst>
          </p:cNvPr>
          <p:cNvPicPr>
            <a:picLocks noChangeAspect="1"/>
          </p:cNvPicPr>
          <p:nvPr/>
        </p:nvPicPr>
        <p:blipFill>
          <a:blip r:embed="rId4"/>
          <a:stretch>
            <a:fillRect/>
          </a:stretch>
        </p:blipFill>
        <p:spPr>
          <a:xfrm>
            <a:off x="6096001" y="1201586"/>
            <a:ext cx="5775018" cy="4061294"/>
          </a:xfrm>
          <a:prstGeom prst="rect">
            <a:avLst/>
          </a:prstGeom>
        </p:spPr>
      </p:pic>
      <p:sp>
        <p:nvSpPr>
          <p:cNvPr id="16" name="TextBox 15">
            <a:extLst>
              <a:ext uri="{FF2B5EF4-FFF2-40B4-BE49-F238E27FC236}">
                <a16:creationId xmlns:a16="http://schemas.microsoft.com/office/drawing/2014/main" id="{E0F890C2-6B2E-BC83-61ED-79F90F945655}"/>
              </a:ext>
            </a:extLst>
          </p:cNvPr>
          <p:cNvSpPr txBox="1"/>
          <p:nvPr/>
        </p:nvSpPr>
        <p:spPr>
          <a:xfrm>
            <a:off x="6522720" y="5506559"/>
            <a:ext cx="5348299" cy="1021883"/>
          </a:xfrm>
          <a:prstGeom prst="rect">
            <a:avLst/>
          </a:prstGeom>
          <a:noFill/>
        </p:spPr>
        <p:txBody>
          <a:bodyPr wrap="square">
            <a:spAutoFit/>
          </a:bodyPr>
          <a:lstStyle/>
          <a:p>
            <a:pPr>
              <a:lnSpc>
                <a:spcPct val="150000"/>
              </a:lnSpc>
            </a:pPr>
            <a:r>
              <a:rPr lang="en-IN" sz="1400" b="1" dirty="0">
                <a:latin typeface="Arial" panose="020B0604020202020204" pitchFamily="34" charset="0"/>
                <a:cs typeface="Arial" panose="020B0604020202020204" pitchFamily="34" charset="0"/>
              </a:rPr>
              <a:t>Observation:</a:t>
            </a:r>
            <a:r>
              <a:rPr lang="en-IN" sz="1400" dirty="0">
                <a:latin typeface="Arial" panose="020B0604020202020204" pitchFamily="34" charset="0"/>
                <a:cs typeface="Arial" panose="020B0604020202020204" pitchFamily="34" charset="0"/>
              </a:rPr>
              <a:t> Profit distribution is highly uneven, with most farms recording low or negative profits, while a small number achieve significantly higher profits.</a:t>
            </a:r>
          </a:p>
        </p:txBody>
      </p:sp>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sz="3200" dirty="0">
                <a:latin typeface="Arial" panose="020B0604020202020204" pitchFamily="34" charset="0"/>
                <a:cs typeface="Arial" panose="020B0604020202020204" pitchFamily="34" charset="0"/>
              </a:rPr>
              <a:t>Results</a:t>
            </a:r>
            <a:r>
              <a:rPr lang="en-GB" dirty="0"/>
              <a:t>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9EB5511D-1637-A5AE-EC4A-09F4793CE284}"/>
              </a:ext>
            </a:extLst>
          </p:cNvPr>
          <p:cNvPicPr>
            <a:picLocks noChangeAspect="1"/>
          </p:cNvPicPr>
          <p:nvPr/>
        </p:nvPicPr>
        <p:blipFill>
          <a:blip r:embed="rId3"/>
          <a:stretch>
            <a:fillRect/>
          </a:stretch>
        </p:blipFill>
        <p:spPr>
          <a:xfrm>
            <a:off x="320982" y="1275371"/>
            <a:ext cx="5588007" cy="4480569"/>
          </a:xfrm>
          <a:prstGeom prst="rect">
            <a:avLst/>
          </a:prstGeom>
        </p:spPr>
      </p:pic>
      <p:sp>
        <p:nvSpPr>
          <p:cNvPr id="11" name="TextBox 10">
            <a:extLst>
              <a:ext uri="{FF2B5EF4-FFF2-40B4-BE49-F238E27FC236}">
                <a16:creationId xmlns:a16="http://schemas.microsoft.com/office/drawing/2014/main" id="{5EC61CD3-14CB-4452-570D-5DD27E95F956}"/>
              </a:ext>
            </a:extLst>
          </p:cNvPr>
          <p:cNvSpPr txBox="1"/>
          <p:nvPr/>
        </p:nvSpPr>
        <p:spPr>
          <a:xfrm>
            <a:off x="764540" y="5755940"/>
            <a:ext cx="5144449" cy="698717"/>
          </a:xfrm>
          <a:prstGeom prst="rect">
            <a:avLst/>
          </a:prstGeom>
          <a:noFill/>
        </p:spPr>
        <p:txBody>
          <a:bodyPr wrap="square">
            <a:spAutoFit/>
          </a:bodyPr>
          <a:lstStyle/>
          <a:p>
            <a:pPr>
              <a:lnSpc>
                <a:spcPct val="150000"/>
              </a:lnSpc>
            </a:pPr>
            <a:r>
              <a:rPr lang="en-IN" sz="1400" b="1" dirty="0">
                <a:latin typeface="Arial" panose="020B0604020202020204" pitchFamily="34" charset="0"/>
                <a:cs typeface="Arial" panose="020B0604020202020204" pitchFamily="34" charset="0"/>
              </a:rPr>
              <a:t>Observation:</a:t>
            </a:r>
            <a:r>
              <a:rPr lang="en-IN" sz="1400" dirty="0">
                <a:latin typeface="Arial" panose="020B0604020202020204" pitchFamily="34" charset="0"/>
                <a:cs typeface="Arial" panose="020B0604020202020204" pitchFamily="34" charset="0"/>
              </a:rPr>
              <a:t> Kharif has the highest disease and pest risk, followed by Rabi, while Zaid has the lowest risk.</a:t>
            </a:r>
          </a:p>
        </p:txBody>
      </p:sp>
      <p:pic>
        <p:nvPicPr>
          <p:cNvPr id="12" name="Picture 11">
            <a:extLst>
              <a:ext uri="{FF2B5EF4-FFF2-40B4-BE49-F238E27FC236}">
                <a16:creationId xmlns:a16="http://schemas.microsoft.com/office/drawing/2014/main" id="{91E02D6A-F663-9AD5-A00A-8DDEF8665B78}"/>
              </a:ext>
            </a:extLst>
          </p:cNvPr>
          <p:cNvPicPr>
            <a:picLocks noChangeAspect="1"/>
          </p:cNvPicPr>
          <p:nvPr/>
        </p:nvPicPr>
        <p:blipFill>
          <a:blip r:embed="rId4"/>
          <a:stretch>
            <a:fillRect/>
          </a:stretch>
        </p:blipFill>
        <p:spPr>
          <a:xfrm>
            <a:off x="6388748" y="1275372"/>
            <a:ext cx="5482270" cy="4480568"/>
          </a:xfrm>
          <a:prstGeom prst="rect">
            <a:avLst/>
          </a:prstGeom>
        </p:spPr>
      </p:pic>
      <p:sp>
        <p:nvSpPr>
          <p:cNvPr id="18" name="TextBox 17">
            <a:extLst>
              <a:ext uri="{FF2B5EF4-FFF2-40B4-BE49-F238E27FC236}">
                <a16:creationId xmlns:a16="http://schemas.microsoft.com/office/drawing/2014/main" id="{D1681575-B3A8-C019-7790-AF40EF7CFF8A}"/>
              </a:ext>
            </a:extLst>
          </p:cNvPr>
          <p:cNvSpPr txBox="1"/>
          <p:nvPr/>
        </p:nvSpPr>
        <p:spPr>
          <a:xfrm>
            <a:off x="6632588" y="5760729"/>
            <a:ext cx="5396852" cy="698717"/>
          </a:xfrm>
          <a:prstGeom prst="rect">
            <a:avLst/>
          </a:prstGeom>
          <a:noFill/>
        </p:spPr>
        <p:txBody>
          <a:bodyPr wrap="square">
            <a:spAutoFit/>
          </a:bodyPr>
          <a:lstStyle/>
          <a:p>
            <a:pPr>
              <a:lnSpc>
                <a:spcPct val="150000"/>
              </a:lnSpc>
            </a:pPr>
            <a:r>
              <a:rPr lang="en-IN" sz="1400" b="1" dirty="0">
                <a:latin typeface="Arial" panose="020B0604020202020204" pitchFamily="34" charset="0"/>
                <a:cs typeface="Arial" panose="020B0604020202020204" pitchFamily="34" charset="0"/>
              </a:rPr>
              <a:t>Observation:</a:t>
            </a:r>
            <a:r>
              <a:rPr lang="en-IN" sz="1400" dirty="0">
                <a:latin typeface="Arial" panose="020B0604020202020204" pitchFamily="34" charset="0"/>
                <a:cs typeface="Arial" panose="020B0604020202020204" pitchFamily="34" charset="0"/>
              </a:rPr>
              <a:t> Sugarcane has the highest yield, while Kharif generally shows higher yields and Zaid the lowest.</a:t>
            </a:r>
          </a:p>
        </p:txBody>
      </p:sp>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sz="3200" dirty="0">
                <a:latin typeface="Arial" panose="020B0604020202020204" pitchFamily="34" charset="0"/>
                <a:cs typeface="Arial" panose="020B0604020202020204" pitchFamily="34" charset="0"/>
              </a:rPr>
              <a:t>Results</a:t>
            </a:r>
            <a:r>
              <a:rPr lang="en-GB" dirty="0"/>
              <a:t>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01670EF1-76B9-2328-E9CE-B8DC0D8D40EB}"/>
              </a:ext>
            </a:extLst>
          </p:cNvPr>
          <p:cNvPicPr>
            <a:picLocks noChangeAspect="1"/>
          </p:cNvPicPr>
          <p:nvPr/>
        </p:nvPicPr>
        <p:blipFill>
          <a:blip r:embed="rId3"/>
          <a:stretch>
            <a:fillRect/>
          </a:stretch>
        </p:blipFill>
        <p:spPr>
          <a:xfrm>
            <a:off x="205734" y="1083512"/>
            <a:ext cx="5740406" cy="4480569"/>
          </a:xfrm>
          <a:prstGeom prst="rect">
            <a:avLst/>
          </a:prstGeom>
        </p:spPr>
      </p:pic>
      <p:sp>
        <p:nvSpPr>
          <p:cNvPr id="11" name="TextBox 10">
            <a:extLst>
              <a:ext uri="{FF2B5EF4-FFF2-40B4-BE49-F238E27FC236}">
                <a16:creationId xmlns:a16="http://schemas.microsoft.com/office/drawing/2014/main" id="{AC24DA82-E014-2642-973A-5DA0288CEA31}"/>
              </a:ext>
            </a:extLst>
          </p:cNvPr>
          <p:cNvSpPr txBox="1"/>
          <p:nvPr/>
        </p:nvSpPr>
        <p:spPr>
          <a:xfrm>
            <a:off x="650483" y="5806743"/>
            <a:ext cx="5445517" cy="698717"/>
          </a:xfrm>
          <a:prstGeom prst="rect">
            <a:avLst/>
          </a:prstGeom>
          <a:noFill/>
        </p:spPr>
        <p:txBody>
          <a:bodyPr wrap="square">
            <a:spAutoFit/>
          </a:bodyPr>
          <a:lstStyle/>
          <a:p>
            <a:pPr>
              <a:lnSpc>
                <a:spcPct val="150000"/>
              </a:lnSpc>
            </a:pPr>
            <a:r>
              <a:rPr lang="en-IN" sz="1400" b="1" dirty="0">
                <a:latin typeface="Arial" panose="020B0604020202020204" pitchFamily="34" charset="0"/>
                <a:cs typeface="Arial" panose="020B0604020202020204" pitchFamily="34" charset="0"/>
              </a:rPr>
              <a:t>Observation:</a:t>
            </a:r>
            <a:r>
              <a:rPr lang="en-IN" sz="1400" dirty="0">
                <a:latin typeface="Arial" panose="020B0604020202020204" pitchFamily="34" charset="0"/>
                <a:cs typeface="Arial" panose="020B0604020202020204" pitchFamily="34" charset="0"/>
              </a:rPr>
              <a:t> No clear relationship is observed between fertilizer usage and crop yield.</a:t>
            </a:r>
          </a:p>
        </p:txBody>
      </p:sp>
      <p:pic>
        <p:nvPicPr>
          <p:cNvPr id="12" name="Picture 11">
            <a:extLst>
              <a:ext uri="{FF2B5EF4-FFF2-40B4-BE49-F238E27FC236}">
                <a16:creationId xmlns:a16="http://schemas.microsoft.com/office/drawing/2014/main" id="{BD564812-71E8-8A84-4FDB-563184F61E8A}"/>
              </a:ext>
            </a:extLst>
          </p:cNvPr>
          <p:cNvPicPr>
            <a:picLocks noChangeAspect="1"/>
          </p:cNvPicPr>
          <p:nvPr/>
        </p:nvPicPr>
        <p:blipFill>
          <a:blip r:embed="rId4"/>
          <a:stretch>
            <a:fillRect/>
          </a:stretch>
        </p:blipFill>
        <p:spPr>
          <a:xfrm>
            <a:off x="6168961" y="1158412"/>
            <a:ext cx="5689600" cy="4586775"/>
          </a:xfrm>
          <a:prstGeom prst="rect">
            <a:avLst/>
          </a:prstGeom>
        </p:spPr>
      </p:pic>
      <p:sp>
        <p:nvSpPr>
          <p:cNvPr id="14" name="TextBox 13">
            <a:extLst>
              <a:ext uri="{FF2B5EF4-FFF2-40B4-BE49-F238E27FC236}">
                <a16:creationId xmlns:a16="http://schemas.microsoft.com/office/drawing/2014/main" id="{FC1D651B-0EFD-0585-44EC-12D0744FE01A}"/>
              </a:ext>
            </a:extLst>
          </p:cNvPr>
          <p:cNvSpPr txBox="1"/>
          <p:nvPr/>
        </p:nvSpPr>
        <p:spPr>
          <a:xfrm>
            <a:off x="6461760" y="5745188"/>
            <a:ext cx="5585460" cy="1021883"/>
          </a:xfrm>
          <a:prstGeom prst="rect">
            <a:avLst/>
          </a:prstGeom>
          <a:noFill/>
        </p:spPr>
        <p:txBody>
          <a:bodyPr wrap="square">
            <a:spAutoFit/>
          </a:bodyPr>
          <a:lstStyle/>
          <a:p>
            <a:pPr>
              <a:lnSpc>
                <a:spcPct val="150000"/>
              </a:lnSpc>
            </a:pPr>
            <a:r>
              <a:rPr lang="en-IN" sz="1400" b="1" dirty="0">
                <a:latin typeface="Arial" panose="020B0604020202020204" pitchFamily="34" charset="0"/>
                <a:cs typeface="Arial" panose="020B0604020202020204" pitchFamily="34" charset="0"/>
              </a:rPr>
              <a:t>Observation:</a:t>
            </a:r>
            <a:r>
              <a:rPr lang="en-IN" sz="1400" dirty="0">
                <a:latin typeface="Arial" panose="020B0604020202020204" pitchFamily="34" charset="0"/>
                <a:cs typeface="Arial" panose="020B0604020202020204" pitchFamily="34" charset="0"/>
              </a:rPr>
              <a:t> Sugarcane has the highest yield, while Groundnut and Pulses have the lowest. Kharif generally outperforms Rabi and Zaid, with moderate seasonal variation in Chilli and Cotton.</a:t>
            </a:r>
          </a:p>
        </p:txBody>
      </p:sp>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A0EC23-AE4F-752A-B74A-159B51163F5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76A1BDAE-21C2-3251-AD54-8CD268B14139}"/>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FE32A55B-C7FD-25AB-4C80-7E99662E860C}"/>
              </a:ext>
            </a:extLst>
          </p:cNvPr>
          <p:cNvSpPr>
            <a:spLocks noGrp="1"/>
          </p:cNvSpPr>
          <p:nvPr>
            <p:ph type="title"/>
          </p:nvPr>
        </p:nvSpPr>
        <p:spPr>
          <a:xfrm>
            <a:off x="675957" y="370590"/>
            <a:ext cx="2981643" cy="657686"/>
          </a:xfrm>
        </p:spPr>
        <p:txBody>
          <a:bodyPr>
            <a:normAutofit fontScale="90000"/>
          </a:bodyPr>
          <a:lstStyle/>
          <a:p>
            <a:r>
              <a:rPr lang="en-GB" sz="3600" dirty="0">
                <a:latin typeface="Arial" panose="020B0604020202020204" pitchFamily="34" charset="0"/>
                <a:cs typeface="Arial" panose="020B0604020202020204" pitchFamily="34" charset="0"/>
              </a:rPr>
              <a:t>Results</a:t>
            </a:r>
            <a:r>
              <a:rPr lang="en-GB" dirty="0"/>
              <a:t> </a:t>
            </a:r>
            <a:endParaRPr lang="en-IN" dirty="0"/>
          </a:p>
        </p:txBody>
      </p:sp>
      <p:sp>
        <p:nvSpPr>
          <p:cNvPr id="7" name="Text Placeholder 30">
            <a:extLst>
              <a:ext uri="{FF2B5EF4-FFF2-40B4-BE49-F238E27FC236}">
                <a16:creationId xmlns:a16="http://schemas.microsoft.com/office/drawing/2014/main" id="{F77F1ADB-BB25-E2A0-2F5E-D506FFD5C364}"/>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366F9967-CAE9-D568-E8BD-E7788C424E0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a:extLst>
              <a:ext uri="{FF2B5EF4-FFF2-40B4-BE49-F238E27FC236}">
                <a16:creationId xmlns:a16="http://schemas.microsoft.com/office/drawing/2014/main" id="{7C701C1B-5D68-BBF9-4850-7D823195FD23}"/>
              </a:ext>
            </a:extLst>
          </p:cNvPr>
          <p:cNvPicPr>
            <a:picLocks noChangeAspect="1"/>
          </p:cNvPicPr>
          <p:nvPr/>
        </p:nvPicPr>
        <p:blipFill>
          <a:blip r:embed="rId3"/>
          <a:stretch>
            <a:fillRect/>
          </a:stretch>
        </p:blipFill>
        <p:spPr>
          <a:xfrm>
            <a:off x="200624" y="986098"/>
            <a:ext cx="5438175" cy="4596531"/>
          </a:xfrm>
          <a:prstGeom prst="rect">
            <a:avLst/>
          </a:prstGeom>
        </p:spPr>
      </p:pic>
      <p:sp>
        <p:nvSpPr>
          <p:cNvPr id="9" name="TextBox 8">
            <a:extLst>
              <a:ext uri="{FF2B5EF4-FFF2-40B4-BE49-F238E27FC236}">
                <a16:creationId xmlns:a16="http://schemas.microsoft.com/office/drawing/2014/main" id="{AF8F9228-D0CA-E1A6-054D-78EFAE15468C}"/>
              </a:ext>
            </a:extLst>
          </p:cNvPr>
          <p:cNvSpPr txBox="1"/>
          <p:nvPr/>
        </p:nvSpPr>
        <p:spPr>
          <a:xfrm>
            <a:off x="657825" y="5386608"/>
            <a:ext cx="4980974" cy="1021883"/>
          </a:xfrm>
          <a:prstGeom prst="rect">
            <a:avLst/>
          </a:prstGeom>
          <a:noFill/>
        </p:spPr>
        <p:txBody>
          <a:bodyPr wrap="square">
            <a:spAutoFit/>
          </a:bodyPr>
          <a:lstStyle/>
          <a:p>
            <a:pPr>
              <a:lnSpc>
                <a:spcPct val="150000"/>
              </a:lnSpc>
            </a:pPr>
            <a:r>
              <a:rPr lang="en-IN" sz="1400" b="1" dirty="0">
                <a:latin typeface="Arial" panose="020B0604020202020204" pitchFamily="34" charset="0"/>
                <a:cs typeface="Arial" panose="020B0604020202020204" pitchFamily="34" charset="0"/>
              </a:rPr>
              <a:t>Observation:</a:t>
            </a:r>
            <a:r>
              <a:rPr lang="en-IN" sz="1400" dirty="0">
                <a:latin typeface="Arial" panose="020B0604020202020204" pitchFamily="34" charset="0"/>
                <a:cs typeface="Arial" panose="020B0604020202020204" pitchFamily="34" charset="0"/>
              </a:rPr>
              <a:t> Chilli, Sugarcane, and Cotton generate the highest profits, while Pulses have the lowest, with Wheat, Rice, and Maize showing moderate profits.</a:t>
            </a:r>
          </a:p>
        </p:txBody>
      </p:sp>
      <p:pic>
        <p:nvPicPr>
          <p:cNvPr id="12" name="Picture 11">
            <a:extLst>
              <a:ext uri="{FF2B5EF4-FFF2-40B4-BE49-F238E27FC236}">
                <a16:creationId xmlns:a16="http://schemas.microsoft.com/office/drawing/2014/main" id="{6CF39FFF-1744-8DD0-AE78-D84FD5D25354}"/>
              </a:ext>
            </a:extLst>
          </p:cNvPr>
          <p:cNvPicPr>
            <a:picLocks noChangeAspect="1"/>
          </p:cNvPicPr>
          <p:nvPr/>
        </p:nvPicPr>
        <p:blipFill>
          <a:blip r:embed="rId4"/>
          <a:stretch>
            <a:fillRect/>
          </a:stretch>
        </p:blipFill>
        <p:spPr>
          <a:xfrm>
            <a:off x="5963920" y="1102060"/>
            <a:ext cx="5973869" cy="3893610"/>
          </a:xfrm>
          <a:prstGeom prst="rect">
            <a:avLst/>
          </a:prstGeom>
        </p:spPr>
      </p:pic>
      <p:sp>
        <p:nvSpPr>
          <p:cNvPr id="14" name="TextBox 13">
            <a:extLst>
              <a:ext uri="{FF2B5EF4-FFF2-40B4-BE49-F238E27FC236}">
                <a16:creationId xmlns:a16="http://schemas.microsoft.com/office/drawing/2014/main" id="{AB5DD28D-565A-52F5-F68D-A206D75067B0}"/>
              </a:ext>
            </a:extLst>
          </p:cNvPr>
          <p:cNvSpPr txBox="1"/>
          <p:nvPr/>
        </p:nvSpPr>
        <p:spPr>
          <a:xfrm>
            <a:off x="6400799" y="5284943"/>
            <a:ext cx="5536989" cy="1021883"/>
          </a:xfrm>
          <a:prstGeom prst="rect">
            <a:avLst/>
          </a:prstGeom>
          <a:noFill/>
        </p:spPr>
        <p:txBody>
          <a:bodyPr wrap="square">
            <a:spAutoFit/>
          </a:bodyPr>
          <a:lstStyle/>
          <a:p>
            <a:pPr>
              <a:lnSpc>
                <a:spcPct val="150000"/>
              </a:lnSpc>
            </a:pPr>
            <a:r>
              <a:rPr lang="en-IN" sz="1400" b="1" dirty="0">
                <a:latin typeface="Arial" panose="020B0604020202020204" pitchFamily="34" charset="0"/>
                <a:cs typeface="Arial" panose="020B0604020202020204" pitchFamily="34" charset="0"/>
              </a:rPr>
              <a:t>Observation:</a:t>
            </a:r>
            <a:r>
              <a:rPr lang="en-IN" sz="1400" dirty="0">
                <a:latin typeface="Arial" panose="020B0604020202020204" pitchFamily="34" charset="0"/>
                <a:cs typeface="Arial" panose="020B0604020202020204" pitchFamily="34" charset="0"/>
              </a:rPr>
              <a:t> Kharif records the highest yields, Rabi shows moderate performance, and Zaid records the lowest yields, with no consistent impact of farm area on yield.</a:t>
            </a:r>
          </a:p>
        </p:txBody>
      </p:sp>
    </p:spTree>
    <p:extLst>
      <p:ext uri="{BB962C8B-B14F-4D97-AF65-F5344CB8AC3E}">
        <p14:creationId xmlns:p14="http://schemas.microsoft.com/office/powerpoint/2010/main" val="150180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9C7EA8-FF3B-7268-7CF3-3EAF5DB39A10}"/>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C3D2F4A-0642-8A18-AF8D-9D6B2BD683B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0CE24A58-1F00-142C-8705-F48337DDCED9}"/>
              </a:ext>
            </a:extLst>
          </p:cNvPr>
          <p:cNvSpPr>
            <a:spLocks noGrp="1"/>
          </p:cNvSpPr>
          <p:nvPr>
            <p:ph type="title"/>
          </p:nvPr>
        </p:nvSpPr>
        <p:spPr>
          <a:xfrm>
            <a:off x="675957" y="370589"/>
            <a:ext cx="2981643" cy="830997"/>
          </a:xfrm>
        </p:spPr>
        <p:txBody>
          <a:bodyPr>
            <a:normAutofit/>
          </a:bodyPr>
          <a:lstStyle/>
          <a:p>
            <a:r>
              <a:rPr lang="en-GB" sz="3200" dirty="0">
                <a:latin typeface="Arial" panose="020B0604020202020204" pitchFamily="34" charset="0"/>
                <a:cs typeface="Arial" panose="020B0604020202020204" pitchFamily="34" charset="0"/>
              </a:rPr>
              <a:t>Results</a:t>
            </a:r>
            <a:r>
              <a:rPr lang="en-GB" dirty="0"/>
              <a:t> </a:t>
            </a:r>
            <a:endParaRPr lang="en-IN" dirty="0"/>
          </a:p>
        </p:txBody>
      </p:sp>
      <p:sp>
        <p:nvSpPr>
          <p:cNvPr id="7" name="Text Placeholder 30">
            <a:extLst>
              <a:ext uri="{FF2B5EF4-FFF2-40B4-BE49-F238E27FC236}">
                <a16:creationId xmlns:a16="http://schemas.microsoft.com/office/drawing/2014/main" id="{093261A1-0856-0D76-1F59-97233CB067E7}"/>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9957AEFB-B3CC-7BF2-E771-75022D36D61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389A5E80-B9B9-60E8-BBD1-BE43E62120D8}"/>
              </a:ext>
            </a:extLst>
          </p:cNvPr>
          <p:cNvPicPr>
            <a:picLocks noChangeAspect="1"/>
          </p:cNvPicPr>
          <p:nvPr/>
        </p:nvPicPr>
        <p:blipFill>
          <a:blip r:embed="rId3"/>
          <a:stretch>
            <a:fillRect/>
          </a:stretch>
        </p:blipFill>
        <p:spPr>
          <a:xfrm>
            <a:off x="568960" y="1158413"/>
            <a:ext cx="10728960" cy="4541174"/>
          </a:xfrm>
          <a:prstGeom prst="rect">
            <a:avLst/>
          </a:prstGeom>
        </p:spPr>
      </p:pic>
      <p:sp>
        <p:nvSpPr>
          <p:cNvPr id="10" name="TextBox 9">
            <a:extLst>
              <a:ext uri="{FF2B5EF4-FFF2-40B4-BE49-F238E27FC236}">
                <a16:creationId xmlns:a16="http://schemas.microsoft.com/office/drawing/2014/main" id="{8CF8CEDE-59EA-E1ED-7FBE-EE3FCD880584}"/>
              </a:ext>
            </a:extLst>
          </p:cNvPr>
          <p:cNvSpPr txBox="1"/>
          <p:nvPr/>
        </p:nvSpPr>
        <p:spPr>
          <a:xfrm>
            <a:off x="1178561" y="5773372"/>
            <a:ext cx="10119359" cy="698717"/>
          </a:xfrm>
          <a:prstGeom prst="rect">
            <a:avLst/>
          </a:prstGeom>
          <a:noFill/>
        </p:spPr>
        <p:txBody>
          <a:bodyPr wrap="square">
            <a:spAutoFit/>
          </a:bodyPr>
          <a:lstStyle/>
          <a:p>
            <a:pPr>
              <a:lnSpc>
                <a:spcPct val="150000"/>
              </a:lnSpc>
            </a:pPr>
            <a:r>
              <a:rPr lang="en-IN" sz="1400" b="1" dirty="0">
                <a:latin typeface="Arial" panose="020B0604020202020204" pitchFamily="34" charset="0"/>
                <a:cs typeface="Arial" panose="020B0604020202020204" pitchFamily="34" charset="0"/>
              </a:rPr>
              <a:t>Observation:</a:t>
            </a:r>
            <a:r>
              <a:rPr lang="en-IN" sz="1400" dirty="0">
                <a:latin typeface="Arial" panose="020B0604020202020204" pitchFamily="34" charset="0"/>
                <a:cs typeface="Arial" panose="020B0604020202020204" pitchFamily="34" charset="0"/>
              </a:rPr>
              <a:t> Sprinkler and Drip irrigation show the highest yields, while Rainfed has the lowest. Kharif performs best across all irrigation methods.</a:t>
            </a:r>
          </a:p>
        </p:txBody>
      </p:sp>
    </p:spTree>
    <p:extLst>
      <p:ext uri="{BB962C8B-B14F-4D97-AF65-F5344CB8AC3E}">
        <p14:creationId xmlns:p14="http://schemas.microsoft.com/office/powerpoint/2010/main" val="17896540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15BBA4-49AD-BB36-B3D8-5A932002A36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C32EDAB-F15F-3473-6281-EE9D2CB6F92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1D36C42-7A8F-AAB4-97D2-99390A51F68A}"/>
              </a:ext>
            </a:extLst>
          </p:cNvPr>
          <p:cNvSpPr>
            <a:spLocks noGrp="1"/>
          </p:cNvSpPr>
          <p:nvPr>
            <p:ph type="title"/>
          </p:nvPr>
        </p:nvSpPr>
        <p:spPr>
          <a:xfrm>
            <a:off x="675957" y="370589"/>
            <a:ext cx="2981643" cy="830997"/>
          </a:xfrm>
        </p:spPr>
        <p:txBody>
          <a:bodyPr>
            <a:normAutofit/>
          </a:bodyPr>
          <a:lstStyle/>
          <a:p>
            <a:r>
              <a:rPr lang="en-GB" sz="3200" dirty="0">
                <a:latin typeface="Arial" panose="020B0604020202020204" pitchFamily="34" charset="0"/>
                <a:cs typeface="Arial" panose="020B0604020202020204" pitchFamily="34" charset="0"/>
              </a:rPr>
              <a:t>Results</a:t>
            </a:r>
            <a:r>
              <a:rPr lang="en-GB" dirty="0"/>
              <a:t> </a:t>
            </a:r>
            <a:endParaRPr lang="en-IN" dirty="0"/>
          </a:p>
        </p:txBody>
      </p:sp>
      <p:sp>
        <p:nvSpPr>
          <p:cNvPr id="7" name="Text Placeholder 30">
            <a:extLst>
              <a:ext uri="{FF2B5EF4-FFF2-40B4-BE49-F238E27FC236}">
                <a16:creationId xmlns:a16="http://schemas.microsoft.com/office/drawing/2014/main" id="{2E963DF8-369E-0E16-33F7-FAF054487BF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607FFB44-E3E0-396D-A263-785291ABC722}"/>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a:extLst>
              <a:ext uri="{FF2B5EF4-FFF2-40B4-BE49-F238E27FC236}">
                <a16:creationId xmlns:a16="http://schemas.microsoft.com/office/drawing/2014/main" id="{AA534D5B-94F1-AC60-344D-469D8BFA4302}"/>
              </a:ext>
            </a:extLst>
          </p:cNvPr>
          <p:cNvPicPr>
            <a:picLocks noChangeAspect="1"/>
          </p:cNvPicPr>
          <p:nvPr/>
        </p:nvPicPr>
        <p:blipFill>
          <a:blip r:embed="rId3"/>
          <a:stretch>
            <a:fillRect/>
          </a:stretch>
        </p:blipFill>
        <p:spPr>
          <a:xfrm>
            <a:off x="467360" y="1087120"/>
            <a:ext cx="11048683" cy="4921250"/>
          </a:xfrm>
          <a:prstGeom prst="rect">
            <a:avLst/>
          </a:prstGeom>
        </p:spPr>
      </p:pic>
      <p:sp>
        <p:nvSpPr>
          <p:cNvPr id="9" name="TextBox 8">
            <a:extLst>
              <a:ext uri="{FF2B5EF4-FFF2-40B4-BE49-F238E27FC236}">
                <a16:creationId xmlns:a16="http://schemas.microsoft.com/office/drawing/2014/main" id="{CF9EE75B-66E4-D485-8E6A-AE78880D2EC5}"/>
              </a:ext>
            </a:extLst>
          </p:cNvPr>
          <p:cNvSpPr txBox="1"/>
          <p:nvPr/>
        </p:nvSpPr>
        <p:spPr>
          <a:xfrm>
            <a:off x="2329180" y="5965788"/>
            <a:ext cx="9186863" cy="698717"/>
          </a:xfrm>
          <a:prstGeom prst="rect">
            <a:avLst/>
          </a:prstGeom>
          <a:noFill/>
        </p:spPr>
        <p:txBody>
          <a:bodyPr wrap="square">
            <a:spAutoFit/>
          </a:bodyPr>
          <a:lstStyle/>
          <a:p>
            <a:pPr>
              <a:lnSpc>
                <a:spcPct val="150000"/>
              </a:lnSpc>
            </a:pPr>
            <a:r>
              <a:rPr lang="en-IN" sz="1400" b="1" dirty="0">
                <a:latin typeface="Arial" panose="020B0604020202020204" pitchFamily="34" charset="0"/>
                <a:cs typeface="Arial" panose="020B0604020202020204" pitchFamily="34" charset="0"/>
              </a:rPr>
              <a:t>Observation:</a:t>
            </a:r>
            <a:r>
              <a:rPr lang="en-IN" sz="1400" dirty="0">
                <a:latin typeface="Arial" panose="020B0604020202020204" pitchFamily="34" charset="0"/>
                <a:cs typeface="Arial" panose="020B0604020202020204" pitchFamily="34" charset="0"/>
              </a:rPr>
              <a:t> Farm Area has the strongest positive correlation with Production, while environmental variables show moderate relationships. Yield and Profit have weak correlations with most variables.</a:t>
            </a:r>
          </a:p>
        </p:txBody>
      </p:sp>
    </p:spTree>
    <p:extLst>
      <p:ext uri="{BB962C8B-B14F-4D97-AF65-F5344CB8AC3E}">
        <p14:creationId xmlns:p14="http://schemas.microsoft.com/office/powerpoint/2010/main" val="27456577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3200" dirty="0">
                <a:latin typeface="Arial" panose="020B0604020202020204" pitchFamily="34" charset="0"/>
                <a:cs typeface="Arial" panose="020B0604020202020204" pitchFamily="34" charset="0"/>
              </a:rPr>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extBox 8">
            <a:extLst>
              <a:ext uri="{FF2B5EF4-FFF2-40B4-BE49-F238E27FC236}">
                <a16:creationId xmlns:a16="http://schemas.microsoft.com/office/drawing/2014/main" id="{05DC5A70-4F39-F2D2-65C3-B9C3724431D3}"/>
              </a:ext>
            </a:extLst>
          </p:cNvPr>
          <p:cNvSpPr txBox="1"/>
          <p:nvPr/>
        </p:nvSpPr>
        <p:spPr>
          <a:xfrm>
            <a:off x="812800" y="1166843"/>
            <a:ext cx="8747760" cy="4611519"/>
          </a:xfrm>
          <a:prstGeom prst="rect">
            <a:avLst/>
          </a:prstGeom>
          <a:noFill/>
        </p:spPr>
        <p:txBody>
          <a:bodyPr wrap="square">
            <a:spAutoFit/>
          </a:bodyPr>
          <a:lstStyle/>
          <a:p>
            <a:pPr marL="342900" lvl="0" indent="-342900" algn="just">
              <a:lnSpc>
                <a:spcPct val="150000"/>
              </a:lnSpc>
              <a:buFont typeface="Arial" panose="020B0604020202020204" pitchFamily="34" charset="0"/>
              <a:buChar char="•"/>
            </a:pPr>
            <a:r>
              <a:rPr lang="en-IN" b="1" dirty="0">
                <a:latin typeface="Arial" panose="020B0604020202020204" pitchFamily="34" charset="0"/>
                <a:cs typeface="Arial" panose="020B0604020202020204" pitchFamily="34" charset="0"/>
              </a:rPr>
              <a:t>Predictive Analysis:</a:t>
            </a:r>
            <a:r>
              <a:rPr lang="en-IN" dirty="0">
                <a:latin typeface="Arial" panose="020B0604020202020204" pitchFamily="34" charset="0"/>
                <a:cs typeface="Arial" panose="020B0604020202020204" pitchFamily="34" charset="0"/>
              </a:rPr>
              <a:t> Develop models for crop yield and profitability.</a:t>
            </a:r>
          </a:p>
          <a:p>
            <a:pPr marL="342900" lvl="0" indent="-342900" algn="just">
              <a:lnSpc>
                <a:spcPct val="150000"/>
              </a:lnSpc>
              <a:buFont typeface="Arial" panose="020B0604020202020204" pitchFamily="34" charset="0"/>
              <a:buChar char="•"/>
            </a:pPr>
            <a:r>
              <a:rPr lang="en-IN" b="1" dirty="0">
                <a:latin typeface="Arial" panose="020B0604020202020204" pitchFamily="34" charset="0"/>
                <a:cs typeface="Arial" panose="020B0604020202020204" pitchFamily="34" charset="0"/>
              </a:rPr>
              <a:t>Environmental Analysis:</a:t>
            </a:r>
            <a:r>
              <a:rPr lang="en-IN" dirty="0">
                <a:latin typeface="Arial" panose="020B0604020202020204" pitchFamily="34" charset="0"/>
                <a:cs typeface="Arial" panose="020B0604020202020204" pitchFamily="34" charset="0"/>
              </a:rPr>
              <a:t> Analyse weather and environmental factors in greater detail.</a:t>
            </a:r>
          </a:p>
          <a:p>
            <a:pPr marL="342900" lvl="0" indent="-342900" algn="just">
              <a:lnSpc>
                <a:spcPct val="150000"/>
              </a:lnSpc>
              <a:buFont typeface="Arial" panose="020B0604020202020204" pitchFamily="34" charset="0"/>
              <a:buChar char="•"/>
            </a:pPr>
            <a:r>
              <a:rPr lang="en-IN" b="1" dirty="0">
                <a:latin typeface="Arial" panose="020B0604020202020204" pitchFamily="34" charset="0"/>
                <a:cs typeface="Arial" panose="020B0604020202020204" pitchFamily="34" charset="0"/>
              </a:rPr>
              <a:t>Real-Time Data:</a:t>
            </a:r>
            <a:r>
              <a:rPr lang="en-IN" dirty="0">
                <a:latin typeface="Arial" panose="020B0604020202020204" pitchFamily="34" charset="0"/>
                <a:cs typeface="Arial" panose="020B0604020202020204" pitchFamily="34" charset="0"/>
              </a:rPr>
              <a:t> Integrate real-time agricultural data for improved insights. </a:t>
            </a:r>
          </a:p>
          <a:p>
            <a:pPr marL="342900" lvl="0" indent="-342900" algn="just">
              <a:lnSpc>
                <a:spcPct val="150000"/>
              </a:lnSpc>
              <a:buFont typeface="Arial" panose="020B0604020202020204" pitchFamily="34" charset="0"/>
              <a:buChar char="•"/>
            </a:pPr>
            <a:r>
              <a:rPr lang="en-IN" b="1" dirty="0">
                <a:latin typeface="Arial" panose="020B0604020202020204" pitchFamily="34" charset="0"/>
                <a:cs typeface="Arial" panose="020B0604020202020204" pitchFamily="34" charset="0"/>
              </a:rPr>
              <a:t>Interactive Dashboard:</a:t>
            </a:r>
            <a:r>
              <a:rPr lang="en-IN" dirty="0">
                <a:latin typeface="Arial" panose="020B0604020202020204" pitchFamily="34" charset="0"/>
                <a:cs typeface="Arial" panose="020B0604020202020204" pitchFamily="34" charset="0"/>
              </a:rPr>
              <a:t> Build dashboards for better visualization and decision-making. </a:t>
            </a:r>
          </a:p>
          <a:p>
            <a:pPr marL="342900" lvl="0" indent="-342900" algn="just">
              <a:lnSpc>
                <a:spcPct val="150000"/>
              </a:lnSpc>
              <a:buFont typeface="Arial" panose="020B0604020202020204" pitchFamily="34" charset="0"/>
              <a:buChar char="•"/>
            </a:pPr>
            <a:r>
              <a:rPr lang="en-IN" b="1" dirty="0">
                <a:latin typeface="Arial" panose="020B0604020202020204" pitchFamily="34" charset="0"/>
                <a:cs typeface="Arial" panose="020B0604020202020204" pitchFamily="34" charset="0"/>
              </a:rPr>
              <a:t>Machine Learning:</a:t>
            </a:r>
            <a:r>
              <a:rPr lang="en-IN" dirty="0">
                <a:latin typeface="Arial" panose="020B0604020202020204" pitchFamily="34" charset="0"/>
                <a:cs typeface="Arial" panose="020B0604020202020204" pitchFamily="34" charset="0"/>
              </a:rPr>
              <a:t> Apply ML techniques for seasonal farming recommendations.</a:t>
            </a:r>
          </a:p>
          <a:p>
            <a:pPr marL="342900" lvl="0" indent="-342900" algn="just">
              <a:lnSpc>
                <a:spcPct val="150000"/>
              </a:lnSpc>
              <a:buFont typeface="Arial" panose="020B0604020202020204" pitchFamily="34" charset="0"/>
              <a:buChar char="•"/>
            </a:pPr>
            <a:r>
              <a:rPr lang="en-IN" b="1" dirty="0">
                <a:latin typeface="Arial" panose="020B0604020202020204" pitchFamily="34" charset="0"/>
                <a:cs typeface="Arial" panose="020B0604020202020204" pitchFamily="34" charset="0"/>
              </a:rPr>
              <a:t>Crop Recommendation:</a:t>
            </a:r>
            <a:r>
              <a:rPr lang="en-IN" dirty="0">
                <a:latin typeface="Arial" panose="020B0604020202020204" pitchFamily="34" charset="0"/>
                <a:cs typeface="Arial" panose="020B0604020202020204" pitchFamily="34" charset="0"/>
              </a:rPr>
              <a:t> Develop systems to suggest suitable crops based on seasonal conditions.</a:t>
            </a:r>
          </a:p>
          <a:p>
            <a:pPr marL="342900" lvl="0" indent="-342900" algn="just">
              <a:lnSpc>
                <a:spcPct val="150000"/>
              </a:lnSpc>
              <a:buFont typeface="Arial" panose="020B0604020202020204" pitchFamily="34" charset="0"/>
              <a:buChar char="•"/>
            </a:pPr>
            <a:r>
              <a:rPr lang="en-IN" b="1" dirty="0">
                <a:latin typeface="Arial" panose="020B0604020202020204" pitchFamily="34" charset="0"/>
                <a:cs typeface="Arial" panose="020B0604020202020204" pitchFamily="34" charset="0"/>
              </a:rPr>
              <a:t>Risk Analysis:</a:t>
            </a:r>
            <a:r>
              <a:rPr lang="en-IN" dirty="0">
                <a:latin typeface="Arial" panose="020B0604020202020204" pitchFamily="34" charset="0"/>
                <a:cs typeface="Arial" panose="020B0604020202020204" pitchFamily="34" charset="0"/>
              </a:rPr>
              <a:t> Identify and predict potential crop and disease-related risks. </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3200" dirty="0">
                <a:latin typeface="Arial" panose="020B0604020202020204" pitchFamily="34" charset="0"/>
                <a:cs typeface="Arial" panose="020B0604020202020204" pitchFamily="34" charset="0"/>
              </a:rPr>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86CA01DD-C644-418A-6462-33F0EBD933B6}"/>
              </a:ext>
            </a:extLst>
          </p:cNvPr>
          <p:cNvSpPr txBox="1"/>
          <p:nvPr/>
        </p:nvSpPr>
        <p:spPr>
          <a:xfrm>
            <a:off x="679331" y="1201586"/>
            <a:ext cx="6100916" cy="646331"/>
          </a:xfrm>
          <a:prstGeom prst="rect">
            <a:avLst/>
          </a:prstGeom>
          <a:noFill/>
        </p:spPr>
        <p:txBody>
          <a:bodyPr wrap="square">
            <a:spAutoFit/>
          </a:bodyPr>
          <a:lstStyle/>
          <a:p>
            <a:r>
              <a:rPr lang="en-IN" dirty="0"/>
              <a:t>https://github.com/Shilpi29-byte/Seasonal_Agriculture_Performance_Analysis.git</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6" y="370589"/>
            <a:ext cx="8803324" cy="884658"/>
          </a:xfrm>
        </p:spPr>
        <p:txBody>
          <a:bodyPr>
            <a:noAutofit/>
          </a:bodyPr>
          <a:lstStyle/>
          <a:p>
            <a:r>
              <a:rPr lang="en-IN" sz="3200" dirty="0">
                <a:latin typeface="Arial" panose="020B0604020202020204" pitchFamily="34" charset="0"/>
                <a:cs typeface="Arial" panose="020B0604020202020204" pitchFamily="34" charset="0"/>
              </a:rPr>
              <a:t>VOIS Course completion certificate - </a:t>
            </a:r>
            <a:br>
              <a:rPr lang="en-IN" sz="3200" dirty="0">
                <a:latin typeface="Arial" panose="020B0604020202020204" pitchFamily="34" charset="0"/>
                <a:cs typeface="Arial" panose="020B0604020202020204" pitchFamily="34" charset="0"/>
              </a:rPr>
            </a:br>
            <a:r>
              <a:rPr lang="en-IN" sz="3200" dirty="0">
                <a:latin typeface="Arial" panose="020B0604020202020204" pitchFamily="34" charset="0"/>
                <a:cs typeface="Arial" panose="020B0604020202020204" pitchFamily="34" charset="0"/>
              </a:rPr>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400FD8B8-A9A3-C67F-5950-7E5D211C1F26}"/>
              </a:ext>
            </a:extLst>
          </p:cNvPr>
          <p:cNvPicPr>
            <a:picLocks noChangeAspect="1"/>
          </p:cNvPicPr>
          <p:nvPr/>
        </p:nvPicPr>
        <p:blipFill>
          <a:blip r:embed="rId3"/>
          <a:stretch>
            <a:fillRect/>
          </a:stretch>
        </p:blipFill>
        <p:spPr>
          <a:xfrm>
            <a:off x="751840" y="1452879"/>
            <a:ext cx="10647680" cy="5212081"/>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br>
              <a:rPr lang="en-US" sz="4800" b="1" dirty="0">
                <a:solidFill>
                  <a:schemeClr val="tx1"/>
                </a:solidFill>
              </a:rPr>
            </a:br>
            <a:br>
              <a:rPr lang="en-US" sz="4800" b="1" dirty="0">
                <a:solidFill>
                  <a:schemeClr val="tx1"/>
                </a:solidFill>
              </a:rPr>
            </a:br>
            <a:br>
              <a:rPr lang="en-US" sz="4800" b="1" dirty="0">
                <a:solidFill>
                  <a:schemeClr val="tx1"/>
                </a:solidFill>
              </a:rPr>
            </a:br>
            <a:br>
              <a:rPr lang="en-US" sz="4800" b="1" dirty="0">
                <a:solidFill>
                  <a:schemeClr val="tx1"/>
                </a:solidFill>
              </a:rPr>
            </a:br>
            <a:br>
              <a:rPr lang="en-US" sz="4800" b="1" dirty="0">
                <a:solidFill>
                  <a:schemeClr val="tx1"/>
                </a:solidFill>
              </a:rPr>
            </a:br>
            <a:br>
              <a:rPr lang="en-US" sz="4800" b="1" dirty="0">
                <a:solidFill>
                  <a:schemeClr val="tx1"/>
                </a:solidFill>
              </a:rPr>
            </a:br>
            <a:br>
              <a:rPr lang="en-US" sz="4800" b="1" dirty="0">
                <a:solidFill>
                  <a:schemeClr val="tx1"/>
                </a:solidFill>
              </a:rPr>
            </a:br>
            <a:br>
              <a:rPr lang="en-US" sz="4800" b="1" dirty="0">
                <a:solidFill>
                  <a:schemeClr val="tx1"/>
                </a:solidFill>
              </a:rPr>
            </a:br>
            <a:r>
              <a:rPr lang="en-US" sz="4400" b="1" dirty="0">
                <a:solidFill>
                  <a:schemeClr val="tx1"/>
                </a:solidFill>
                <a:latin typeface="Arial" panose="020B0604020202020204" pitchFamily="34" charset="0"/>
                <a:cs typeface="Arial" panose="020B0604020202020204" pitchFamily="34" charset="0"/>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879</TotalTime>
  <Words>770</Words>
  <Application>Microsoft Office PowerPoint</Application>
  <PresentationFormat>Widescreen</PresentationFormat>
  <Paragraphs>62</Paragraphs>
  <Slides>17</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Calibri</vt:lpstr>
      <vt:lpstr>Trebuchet MS</vt:lpstr>
      <vt:lpstr>Wingdings</vt:lpstr>
      <vt:lpstr>Wingdings 3</vt:lpstr>
      <vt:lpstr>Facet</vt:lpstr>
      <vt:lpstr>Project Title -  Seasonal Agriculture Performance Analysis</vt:lpstr>
      <vt:lpstr>Problem  Statement</vt:lpstr>
      <vt:lpstr>Project Description   </vt:lpstr>
      <vt:lpstr>Who are the end users?</vt:lpstr>
      <vt:lpstr>Technology Used</vt:lpstr>
      <vt:lpstr>Results </vt:lpstr>
      <vt:lpstr>Results </vt:lpstr>
      <vt:lpstr>Results </vt:lpstr>
      <vt:lpstr>Results </vt:lpstr>
      <vt:lpstr>Results </vt:lpstr>
      <vt:lpstr>Results </vt:lpstr>
      <vt:lpstr>Results </vt:lpstr>
      <vt:lpstr>Results </vt:lpstr>
      <vt:lpstr>Future Scope</vt:lpstr>
      <vt:lpstr>GitHub Link-</vt:lpstr>
      <vt:lpstr>VOIS Course completion certificate -  Course name- Data Visualization </vt:lpstr>
      <vt:lpstr>        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Shilpi Bhakat</cp:lastModifiedBy>
  <cp:revision>104</cp:revision>
  <dcterms:created xsi:type="dcterms:W3CDTF">2021-07-11T13:13:15Z</dcterms:created>
  <dcterms:modified xsi:type="dcterms:W3CDTF">2026-09-08T01:06:40Z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